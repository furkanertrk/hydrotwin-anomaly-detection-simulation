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4375" y="1437875"/>
            <a:ext cx="6600825" cy="8800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2862" b="1" dirty="0">
                <a:solidFill>
                  <a:srgbClr val="0E749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HydroTwin: 16 Mart 2026 Geliştirme Raporu</a:t>
            </a:r>
            <a:endParaRPr lang="en-US" sz="2862" dirty="0"/>
          </a:p>
        </p:txBody>
      </p:sp>
      <p:sp>
        <p:nvSpPr>
          <p:cNvPr id="4" name="Text 1"/>
          <p:cNvSpPr/>
          <p:nvPr/>
        </p:nvSpPr>
        <p:spPr>
          <a:xfrm>
            <a:off x="714375" y="2489402"/>
            <a:ext cx="6429375" cy="5464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486" dirty="0">
                <a:solidFill>
                  <a:srgbClr val="155E7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IoT Altyapısı, pH Entegrasyonu ve %100 Başarılı XGBoost Dashboard Prototipi</a:t>
            </a:r>
            <a:endParaRPr lang="en-US" sz="1486" dirty="0"/>
          </a:p>
        </p:txBody>
      </p:sp>
      <p:sp>
        <p:nvSpPr>
          <p:cNvPr id="5" name="Shape 2"/>
          <p:cNvSpPr/>
          <p:nvPr/>
        </p:nvSpPr>
        <p:spPr>
          <a:xfrm>
            <a:off x="714375" y="3378798"/>
            <a:ext cx="1739503" cy="326827"/>
          </a:xfrm>
          <a:prstGeom prst="roundRect">
            <a:avLst/>
          </a:prstGeom>
          <a:solidFill>
            <a:srgbClr val="FFFFFF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3485062"/>
            <a:ext cx="114300" cy="1143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85850" y="3464523"/>
            <a:ext cx="119657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55E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IoT &amp; Co-Simulation</a:t>
            </a:r>
            <a:endParaRPr lang="en-US" sz="885" dirty="0"/>
          </a:p>
        </p:txBody>
      </p:sp>
      <p:sp>
        <p:nvSpPr>
          <p:cNvPr id="8" name="Shape 4"/>
          <p:cNvSpPr/>
          <p:nvPr/>
        </p:nvSpPr>
        <p:spPr>
          <a:xfrm>
            <a:off x="2596753" y="3378798"/>
            <a:ext cx="1993106" cy="326827"/>
          </a:xfrm>
          <a:prstGeom prst="roundRect">
            <a:avLst/>
          </a:prstGeom>
          <a:solidFill>
            <a:srgbClr val="0E7490"/>
          </a:solidFill>
          <a:ln/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8203" y="3485062"/>
            <a:ext cx="114300" cy="1143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968228" y="3464523"/>
            <a:ext cx="145018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XGBoost Başarısı: %100</a:t>
            </a:r>
            <a:endParaRPr lang="en-US" sz="88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4457700" cy="5486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0E749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Aşama 1: İdeal (Baseline) Fiziksel Model ve İlk AI Testi</a:t>
            </a:r>
            <a:endParaRPr lang="en-US" sz="1602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217451"/>
            <a:ext cx="160734" cy="14287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17959" y="1191555"/>
            <a:ext cx="1569839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55E7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Gürültüsüz Veri Üretimi</a:t>
            </a:r>
            <a:endParaRPr lang="en-US" sz="987" dirty="0"/>
          </a:p>
        </p:txBody>
      </p:sp>
      <p:sp>
        <p:nvSpPr>
          <p:cNvPr id="6" name="Text 2"/>
          <p:cNvSpPr/>
          <p:nvPr/>
        </p:nvSpPr>
        <p:spPr>
          <a:xfrm>
            <a:off x="571500" y="1443372"/>
            <a:ext cx="4457700" cy="342900"/>
          </a:xfrm>
          <a:prstGeom prst="rect">
            <a:avLst/>
          </a:prstGeom>
          <a:noFill/>
          <a:ln/>
        </p:spPr>
        <p:txBody>
          <a:bodyPr wrap="square" lIns="272161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155E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Simulink'teki "White Noise" blokları kaldırılarak sistemin saf fiziksel tepkisi ölçüldü ve baseline veri seti oluşturuldu.</a:t>
            </a:r>
            <a:endParaRPr lang="en-US" sz="834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990762"/>
            <a:ext cx="142875" cy="14287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00100" y="1964866"/>
            <a:ext cx="1812727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55E7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%99.98 Başarı Doğrulaması</a:t>
            </a:r>
            <a:endParaRPr lang="en-US" sz="987" dirty="0"/>
          </a:p>
        </p:txBody>
      </p:sp>
      <p:sp>
        <p:nvSpPr>
          <p:cNvPr id="9" name="Text 4"/>
          <p:cNvSpPr/>
          <p:nvPr/>
        </p:nvSpPr>
        <p:spPr>
          <a:xfrm>
            <a:off x="571500" y="2216683"/>
            <a:ext cx="4457700" cy="342900"/>
          </a:xfrm>
          <a:prstGeom prst="rect">
            <a:avLst/>
          </a:prstGeom>
          <a:noFill/>
          <a:ln/>
        </p:spPr>
        <p:txBody>
          <a:bodyPr wrap="square" lIns="272161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155E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Temiz veriyle XGBoost modeli eğitilerek projenin "taban çizgisi" başarısı kanıtlandı.</a:t>
            </a:r>
            <a:endParaRPr lang="en-US" sz="834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764073"/>
            <a:ext cx="142875" cy="14287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800100" y="2738177"/>
            <a:ext cx="784027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55E7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Kritik Tespit</a:t>
            </a:r>
            <a:endParaRPr lang="en-US" sz="987" dirty="0"/>
          </a:p>
        </p:txBody>
      </p:sp>
      <p:sp>
        <p:nvSpPr>
          <p:cNvPr id="12" name="Text 6"/>
          <p:cNvSpPr/>
          <p:nvPr/>
        </p:nvSpPr>
        <p:spPr>
          <a:xfrm>
            <a:off x="571500" y="2989994"/>
            <a:ext cx="4457700" cy="342900"/>
          </a:xfrm>
          <a:prstGeom prst="rect">
            <a:avLst/>
          </a:prstGeom>
          <a:noFill/>
          <a:ln/>
        </p:spPr>
        <p:txBody>
          <a:bodyPr wrap="square" lIns="272161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155E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Sadece Debi verisinin "gri su analizi" için yetersiz olduğu saptanarak Basınç ve pH metriklerinin eklenmesine karar verildi.</a:t>
            </a:r>
            <a:endParaRPr lang="en-US" sz="834" dirty="0"/>
          </a:p>
        </p:txBody>
      </p:sp>
      <p:sp>
        <p:nvSpPr>
          <p:cNvPr id="13" name="Shape 7"/>
          <p:cNvSpPr/>
          <p:nvPr/>
        </p:nvSpPr>
        <p:spPr>
          <a:xfrm>
            <a:off x="5029200" y="714375"/>
            <a:ext cx="3543300" cy="150158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8"/>
          <p:cNvSpPr/>
          <p:nvPr/>
        </p:nvSpPr>
        <p:spPr>
          <a:xfrm>
            <a:off x="5243513" y="928688"/>
            <a:ext cx="3114675" cy="4143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0E749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%99.98</a:t>
            </a:r>
            <a:endParaRPr lang="en-US" sz="2436" dirty="0"/>
          </a:p>
        </p:txBody>
      </p:sp>
      <p:sp>
        <p:nvSpPr>
          <p:cNvPr id="15" name="Text 9"/>
          <p:cNvSpPr/>
          <p:nvPr/>
        </p:nvSpPr>
        <p:spPr>
          <a:xfrm>
            <a:off x="5243513" y="1343025"/>
            <a:ext cx="3114675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Baseline Doğruluk Oranı</a:t>
            </a:r>
            <a:endParaRPr lang="en-US" sz="683" dirty="0"/>
          </a:p>
        </p:txBody>
      </p:sp>
      <p:sp>
        <p:nvSpPr>
          <p:cNvPr id="16" name="Text 10"/>
          <p:cNvSpPr/>
          <p:nvPr/>
        </p:nvSpPr>
        <p:spPr>
          <a:xfrm>
            <a:off x="5243513" y="1607344"/>
            <a:ext cx="3114675" cy="394302"/>
          </a:xfrm>
          <a:prstGeom prst="rect">
            <a:avLst/>
          </a:prstGeom>
          <a:noFill/>
          <a:ln/>
        </p:spPr>
        <p:txBody>
          <a:bodyPr wrap="square" lIns="0" tIns="127508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i="1" dirty="0">
                <a:solidFill>
                  <a:srgbClr val="155E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"Gürültüsüz ortamda sistemin fiziksel tutarlılığı AI tarafından tam doğrulukla öğrenildi."</a:t>
            </a:r>
            <a:endParaRPr lang="en-US" sz="727" dirty="0"/>
          </a:p>
        </p:txBody>
      </p:sp>
      <p:sp>
        <p:nvSpPr>
          <p:cNvPr id="17" name="Shape 11"/>
          <p:cNvSpPr/>
          <p:nvPr/>
        </p:nvSpPr>
        <p:spPr>
          <a:xfrm>
            <a:off x="5917704" y="2358833"/>
            <a:ext cx="1766292" cy="264319"/>
          </a:xfrm>
          <a:prstGeom prst="roundRect">
            <a:avLst/>
          </a:prstGeom>
          <a:solidFill>
            <a:srgbClr val="0E7490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298" y="2440986"/>
            <a:ext cx="100013" cy="100013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267748" y="2430270"/>
            <a:ext cx="1237655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Çoklu Sensör Kararı Alındı</a:t>
            </a:r>
            <a:endParaRPr lang="en-US" sz="683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4457700" cy="5486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0E749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Aşama 2: Çoklu Sensör (IoT) ve Co-Simulation Altyapısı</a:t>
            </a:r>
            <a:endParaRPr lang="en-US" sz="1602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288889"/>
            <a:ext cx="160734" cy="14287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17959" y="1262993"/>
            <a:ext cx="1964531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55E7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Basınç Sensörü Entegrasyonu</a:t>
            </a:r>
            <a:endParaRPr lang="en-US" sz="987" dirty="0"/>
          </a:p>
        </p:txBody>
      </p:sp>
      <p:sp>
        <p:nvSpPr>
          <p:cNvPr id="6" name="Text 2"/>
          <p:cNvSpPr/>
          <p:nvPr/>
        </p:nvSpPr>
        <p:spPr>
          <a:xfrm>
            <a:off x="571500" y="1529097"/>
            <a:ext cx="4457700" cy="342900"/>
          </a:xfrm>
          <a:prstGeom prst="rect">
            <a:avLst/>
          </a:prstGeom>
          <a:noFill/>
          <a:ln/>
        </p:spPr>
        <p:txBody>
          <a:bodyPr wrap="square" lIns="272161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155E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Simulink fizik modeline paralel bağlı basınç sensörü eklenerek hidrolik veri seti genişletildi.</a:t>
            </a:r>
            <a:endParaRPr lang="en-US" sz="834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112206"/>
            <a:ext cx="125016" cy="14287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82241" y="2086310"/>
            <a:ext cx="1241227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55E7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Sentetik pH Analizi</a:t>
            </a:r>
            <a:endParaRPr lang="en-US" sz="987" dirty="0"/>
          </a:p>
        </p:txBody>
      </p:sp>
      <p:sp>
        <p:nvSpPr>
          <p:cNvPr id="9" name="Text 4"/>
          <p:cNvSpPr/>
          <p:nvPr/>
        </p:nvSpPr>
        <p:spPr>
          <a:xfrm>
            <a:off x="571500" y="2352415"/>
            <a:ext cx="4457700" cy="342900"/>
          </a:xfrm>
          <a:prstGeom prst="rect">
            <a:avLst/>
          </a:prstGeom>
          <a:noFill/>
          <a:ln/>
        </p:spPr>
        <p:txBody>
          <a:bodyPr wrap="square" lIns="272161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155E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 ile sızıntı anında "Gri Su" karışma senaryosu kodlanarak sentetik pH verisi üretildi.</a:t>
            </a:r>
            <a:endParaRPr lang="en-US" sz="834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935523"/>
            <a:ext cx="142875" cy="14287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800100" y="2909627"/>
            <a:ext cx="1521619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55E7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Co-Simulation Yöntemi</a:t>
            </a:r>
            <a:endParaRPr lang="en-US" sz="987" dirty="0"/>
          </a:p>
        </p:txBody>
      </p:sp>
      <p:sp>
        <p:nvSpPr>
          <p:cNvPr id="12" name="Text 6"/>
          <p:cNvSpPr/>
          <p:nvPr/>
        </p:nvSpPr>
        <p:spPr>
          <a:xfrm>
            <a:off x="571500" y="3175732"/>
            <a:ext cx="4457700" cy="342900"/>
          </a:xfrm>
          <a:prstGeom prst="rect">
            <a:avLst/>
          </a:prstGeom>
          <a:noFill/>
          <a:ln/>
        </p:spPr>
        <p:txBody>
          <a:bodyPr wrap="square" lIns="272161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155E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Fiziksel simülasyon (Simulink) ve kimyasal veri üretimi (Python) eş zamanlı çalıştırılarak hibrit veri akışı sağlandı.</a:t>
            </a:r>
            <a:endParaRPr lang="en-US" sz="834" dirty="0"/>
          </a:p>
        </p:txBody>
      </p:sp>
      <p:sp>
        <p:nvSpPr>
          <p:cNvPr id="13" name="Shape 7"/>
          <p:cNvSpPr/>
          <p:nvPr/>
        </p:nvSpPr>
        <p:spPr>
          <a:xfrm>
            <a:off x="5029200" y="714375"/>
            <a:ext cx="3543300" cy="259318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8"/>
          <p:cNvSpPr/>
          <p:nvPr/>
        </p:nvSpPr>
        <p:spPr>
          <a:xfrm>
            <a:off x="5314950" y="1000125"/>
            <a:ext cx="2971800" cy="328613"/>
          </a:xfrm>
          <a:prstGeom prst="roundRect">
            <a:avLst/>
          </a:prstGeom>
          <a:solidFill>
            <a:srgbClr val="F0F9FF"/>
          </a:solidFill>
          <a:ln w="18288">
            <a:solidFill>
              <a:srgbClr val="0E7490"/>
            </a:solidFill>
            <a:prstDash val="solid"/>
          </a:ln>
        </p:spPr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0" y="1096566"/>
            <a:ext cx="121444" cy="107156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479381" y="1085850"/>
            <a:ext cx="835819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155E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Debi (Flow Rate)</a:t>
            </a:r>
            <a:endParaRPr lang="en-US" sz="734" dirty="0"/>
          </a:p>
        </p:txBody>
      </p:sp>
      <p:sp>
        <p:nvSpPr>
          <p:cNvPr id="17" name="Shape 10"/>
          <p:cNvSpPr/>
          <p:nvPr/>
        </p:nvSpPr>
        <p:spPr>
          <a:xfrm>
            <a:off x="5314950" y="1407319"/>
            <a:ext cx="2971800" cy="328613"/>
          </a:xfrm>
          <a:prstGeom prst="roundRect">
            <a:avLst/>
          </a:prstGeom>
          <a:solidFill>
            <a:srgbClr val="F0F9FF"/>
          </a:solidFill>
          <a:ln w="18288">
            <a:solidFill>
              <a:srgbClr val="0E7490"/>
            </a:solidFill>
            <a:prstDash val="solid"/>
          </a:ln>
        </p:spPr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5069" y="1503759"/>
            <a:ext cx="107156" cy="107156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6443663" y="1493044"/>
            <a:ext cx="892969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155E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Basınç (Pressure)</a:t>
            </a:r>
            <a:endParaRPr lang="en-US" sz="734" dirty="0"/>
          </a:p>
        </p:txBody>
      </p:sp>
      <p:sp>
        <p:nvSpPr>
          <p:cNvPr id="20" name="Shape 12"/>
          <p:cNvSpPr/>
          <p:nvPr/>
        </p:nvSpPr>
        <p:spPr>
          <a:xfrm>
            <a:off x="5314950" y="1814513"/>
            <a:ext cx="2971800" cy="328613"/>
          </a:xfrm>
          <a:prstGeom prst="roundRect">
            <a:avLst/>
          </a:prstGeom>
          <a:solidFill>
            <a:srgbClr val="F0F9FF"/>
          </a:solidFill>
          <a:ln w="18288">
            <a:solidFill>
              <a:srgbClr val="0E7490"/>
            </a:solidFill>
            <a:prstDash val="solid"/>
          </a:ln>
        </p:spPr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19540" y="1910953"/>
            <a:ext cx="107156" cy="107156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6498134" y="1900238"/>
            <a:ext cx="784027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155E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 (Su Kalitesi)</a:t>
            </a:r>
            <a:endParaRPr lang="en-US" sz="734" dirty="0"/>
          </a:p>
        </p:txBody>
      </p:sp>
      <p:pic>
        <p:nvPicPr>
          <p:cNvPr id="2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25841" y="2273498"/>
            <a:ext cx="150019" cy="171450"/>
          </a:xfrm>
          <a:prstGeom prst="rect">
            <a:avLst/>
          </a:prstGeom>
        </p:spPr>
      </p:pic>
      <p:sp>
        <p:nvSpPr>
          <p:cNvPr id="24" name="Shape 14"/>
          <p:cNvSpPr/>
          <p:nvPr/>
        </p:nvSpPr>
        <p:spPr>
          <a:xfrm>
            <a:off x="5314950" y="2607469"/>
            <a:ext cx="2971800" cy="328613"/>
          </a:xfrm>
          <a:prstGeom prst="roundRect">
            <a:avLst/>
          </a:prstGeom>
          <a:solidFill>
            <a:srgbClr val="0E7490"/>
          </a:solidFill>
          <a:ln w="18288">
            <a:solidFill>
              <a:srgbClr val="0E7490"/>
            </a:solidFill>
            <a:prstDash val="solid"/>
          </a:ln>
        </p:spPr>
      </p:sp>
      <p:pic>
        <p:nvPicPr>
          <p:cNvPr id="2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50794" y="2703909"/>
            <a:ext cx="94655" cy="107156"/>
          </a:xfrm>
          <a:prstGeom prst="rect">
            <a:avLst/>
          </a:prstGeom>
        </p:spPr>
      </p:pic>
      <p:sp>
        <p:nvSpPr>
          <p:cNvPr id="26" name="Text 15"/>
          <p:cNvSpPr/>
          <p:nvPr/>
        </p:nvSpPr>
        <p:spPr>
          <a:xfrm>
            <a:off x="6516886" y="2693194"/>
            <a:ext cx="73402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Hibrit Veri Seti</a:t>
            </a:r>
            <a:endParaRPr lang="en-US" sz="734" dirty="0"/>
          </a:p>
        </p:txBody>
      </p:sp>
      <p:sp>
        <p:nvSpPr>
          <p:cNvPr id="27" name="Shape 16"/>
          <p:cNvSpPr/>
          <p:nvPr/>
        </p:nvSpPr>
        <p:spPr>
          <a:xfrm>
            <a:off x="5029200" y="3336131"/>
            <a:ext cx="3543300" cy="264319"/>
          </a:xfrm>
          <a:prstGeom prst="roundRect">
            <a:avLst/>
          </a:prstGeom>
          <a:solidFill>
            <a:srgbClr val="0E7490"/>
          </a:solidFill>
          <a:ln/>
        </p:spPr>
      </p:sp>
      <p:pic>
        <p:nvPicPr>
          <p:cNvPr id="28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07794" y="3416498"/>
            <a:ext cx="125016" cy="100013"/>
          </a:xfrm>
          <a:prstGeom prst="rect">
            <a:avLst/>
          </a:prstGeom>
        </p:spPr>
      </p:pic>
      <p:sp>
        <p:nvSpPr>
          <p:cNvPr id="29" name="Text 17"/>
          <p:cNvSpPr/>
          <p:nvPr/>
        </p:nvSpPr>
        <p:spPr>
          <a:xfrm>
            <a:off x="5404247" y="3407569"/>
            <a:ext cx="1553766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Co-Simulation Başarıyla Kuruldu</a:t>
            </a:r>
            <a:endParaRPr lang="en-US" sz="683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4000500" cy="5486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0E749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Aşama 3: Çok Katmanlı AI Modelleri ve Akademik Bulgular</a:t>
            </a:r>
            <a:endParaRPr lang="en-US" sz="1602" dirty="0"/>
          </a:p>
        </p:txBody>
      </p:sp>
      <p:sp>
        <p:nvSpPr>
          <p:cNvPr id="4" name="Shape 1"/>
          <p:cNvSpPr/>
          <p:nvPr/>
        </p:nvSpPr>
        <p:spPr>
          <a:xfrm>
            <a:off x="571500" y="1191555"/>
            <a:ext cx="4000500" cy="77509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2"/>
          <p:cNvSpPr/>
          <p:nvPr/>
        </p:nvSpPr>
        <p:spPr>
          <a:xfrm>
            <a:off x="785813" y="1334430"/>
            <a:ext cx="134123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55E7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XGBoost (Nihai Model)</a:t>
            </a:r>
            <a:endParaRPr lang="en-US" sz="885" dirty="0"/>
          </a:p>
        </p:txBody>
      </p:sp>
      <p:sp>
        <p:nvSpPr>
          <p:cNvPr id="6" name="Text 3"/>
          <p:cNvSpPr/>
          <p:nvPr/>
        </p:nvSpPr>
        <p:spPr>
          <a:xfrm>
            <a:off x="3979069" y="1335323"/>
            <a:ext cx="378619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E749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%100</a:t>
            </a:r>
            <a:endParaRPr lang="en-US" sz="987" dirty="0"/>
          </a:p>
        </p:txBody>
      </p:sp>
      <p:sp>
        <p:nvSpPr>
          <p:cNvPr id="7" name="Text 4"/>
          <p:cNvSpPr/>
          <p:nvPr/>
        </p:nvSpPr>
        <p:spPr>
          <a:xfrm>
            <a:off x="785813" y="1580890"/>
            <a:ext cx="3571875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155E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Çoklu sensör (Debi, Basınç, pH) verisindeki karmaşık örüntüleri yakalayarak kusursuz sınıflandırma sağladı.</a:t>
            </a:r>
            <a:endParaRPr lang="en-US" sz="727" dirty="0"/>
          </a:p>
        </p:txBody>
      </p:sp>
      <p:sp>
        <p:nvSpPr>
          <p:cNvPr id="8" name="Shape 5"/>
          <p:cNvSpPr/>
          <p:nvPr/>
        </p:nvSpPr>
        <p:spPr>
          <a:xfrm>
            <a:off x="571500" y="2109527"/>
            <a:ext cx="4000500" cy="77509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6"/>
          <p:cNvSpPr/>
          <p:nvPr/>
        </p:nvSpPr>
        <p:spPr>
          <a:xfrm>
            <a:off x="571500" y="2109527"/>
            <a:ext cx="42863" cy="775097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0" name="Text 7"/>
          <p:cNvSpPr/>
          <p:nvPr/>
        </p:nvSpPr>
        <p:spPr>
          <a:xfrm>
            <a:off x="785813" y="2252402"/>
            <a:ext cx="91797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55E7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Isolation Forest</a:t>
            </a:r>
            <a:endParaRPr lang="en-US" sz="885" dirty="0"/>
          </a:p>
        </p:txBody>
      </p:sp>
      <p:sp>
        <p:nvSpPr>
          <p:cNvPr id="11" name="Text 8"/>
          <p:cNvSpPr/>
          <p:nvPr/>
        </p:nvSpPr>
        <p:spPr>
          <a:xfrm>
            <a:off x="3830836" y="2253295"/>
            <a:ext cx="526852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E749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%54.63</a:t>
            </a:r>
            <a:endParaRPr lang="en-US" sz="987" dirty="0"/>
          </a:p>
        </p:txBody>
      </p:sp>
      <p:sp>
        <p:nvSpPr>
          <p:cNvPr id="12" name="Text 9"/>
          <p:cNvSpPr/>
          <p:nvPr/>
        </p:nvSpPr>
        <p:spPr>
          <a:xfrm>
            <a:off x="785813" y="2498861"/>
            <a:ext cx="3571875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155E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Sızıntı süresinin toplam sürenin %50'sini kapsaması nedeniyle "nadir olay" teorik sınırlarına takıldı.</a:t>
            </a:r>
            <a:endParaRPr lang="en-US" sz="727" dirty="0"/>
          </a:p>
        </p:txBody>
      </p:sp>
      <p:sp>
        <p:nvSpPr>
          <p:cNvPr id="13" name="Shape 10"/>
          <p:cNvSpPr/>
          <p:nvPr/>
        </p:nvSpPr>
        <p:spPr>
          <a:xfrm>
            <a:off x="571500" y="3027499"/>
            <a:ext cx="2259211" cy="292894"/>
          </a:xfrm>
          <a:prstGeom prst="roundRect">
            <a:avLst/>
          </a:prstGeom>
          <a:solidFill>
            <a:srgbClr val="0E7490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813" y="3123940"/>
            <a:ext cx="125016" cy="10001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996553" y="3113224"/>
            <a:ext cx="1619845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Akademik Bulgu Olarak Kaydedildi</a:t>
            </a:r>
            <a:endParaRPr lang="en-US" sz="683" dirty="0"/>
          </a:p>
        </p:txBody>
      </p:sp>
      <p:sp>
        <p:nvSpPr>
          <p:cNvPr id="16" name="Shape 12"/>
          <p:cNvSpPr/>
          <p:nvPr/>
        </p:nvSpPr>
        <p:spPr>
          <a:xfrm>
            <a:off x="4786313" y="571500"/>
            <a:ext cx="3571875" cy="200025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9188" y="714375"/>
            <a:ext cx="3286125" cy="1714500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4572000" y="2786063"/>
            <a:ext cx="4000500" cy="542925"/>
          </a:xfrm>
          <a:prstGeom prst="rect">
            <a:avLst/>
          </a:prstGeom>
          <a:solidFill>
            <a:srgbClr val="F0F9FF"/>
          </a:solidFill>
          <a:ln w="9144">
            <a:solidFill>
              <a:srgbClr val="94A3B8"/>
            </a:solidFill>
            <a:prstDash val="dash"/>
          </a:ln>
        </p:spPr>
      </p:sp>
      <p:sp>
        <p:nvSpPr>
          <p:cNvPr id="19" name="Text 14"/>
          <p:cNvSpPr/>
          <p:nvPr/>
        </p:nvSpPr>
        <p:spPr>
          <a:xfrm>
            <a:off x="4786313" y="2928938"/>
            <a:ext cx="3571875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27" i="1" dirty="0">
                <a:solidFill>
                  <a:srgbClr val="155E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"Hibrit veri setinin (Fiziksel + Sentetik) AI modelleri üzerindeki üstünlüğü ve model seçimi kriterleri kanıtlanmıştır."</a:t>
            </a:r>
            <a:endParaRPr lang="en-US" sz="727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4457700" cy="5486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0E749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Aşama 4: Canlı İzleme Paneli ve Mühendislik Optimizasyonu</a:t>
            </a:r>
            <a:endParaRPr lang="en-US" sz="1602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288889"/>
            <a:ext cx="160734" cy="14287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17959" y="1262993"/>
            <a:ext cx="1376958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55E7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Streamlit Dashboard</a:t>
            </a:r>
            <a:endParaRPr lang="en-US" sz="987" dirty="0"/>
          </a:p>
        </p:txBody>
      </p:sp>
      <p:sp>
        <p:nvSpPr>
          <p:cNvPr id="6" name="Text 2"/>
          <p:cNvSpPr/>
          <p:nvPr/>
        </p:nvSpPr>
        <p:spPr>
          <a:xfrm>
            <a:off x="571500" y="1529097"/>
            <a:ext cx="4457700" cy="342900"/>
          </a:xfrm>
          <a:prstGeom prst="rect">
            <a:avLst/>
          </a:prstGeom>
          <a:noFill/>
          <a:ln/>
        </p:spPr>
        <p:txBody>
          <a:bodyPr wrap="square" lIns="272161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155E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Gerçek zamanlı sensör verilerini ve XGBoost kararlarını anlık gösteren "Zaman Makineli" web arayüzü kodlandı.</a:t>
            </a:r>
            <a:endParaRPr lang="en-US" sz="834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112206"/>
            <a:ext cx="107156" cy="14287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64381" y="2086310"/>
            <a:ext cx="1996678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55E7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Performans Sorunu ve Çözüm</a:t>
            </a:r>
            <a:endParaRPr lang="en-US" sz="987" dirty="0"/>
          </a:p>
        </p:txBody>
      </p:sp>
      <p:sp>
        <p:nvSpPr>
          <p:cNvPr id="9" name="Text 4"/>
          <p:cNvSpPr/>
          <p:nvPr/>
        </p:nvSpPr>
        <p:spPr>
          <a:xfrm>
            <a:off x="571500" y="2352415"/>
            <a:ext cx="4457700" cy="342900"/>
          </a:xfrm>
          <a:prstGeom prst="rect">
            <a:avLst/>
          </a:prstGeom>
          <a:noFill/>
          <a:ln/>
        </p:spPr>
        <p:txBody>
          <a:bodyPr wrap="square" lIns="272161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155E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Devasa veri boyutu nedeniyle yaşanan donma sorunu, özel geliştirilen "Downsampling" algoritması ile aşıldı.</a:t>
            </a:r>
            <a:endParaRPr lang="en-US" sz="834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935523"/>
            <a:ext cx="142875" cy="14287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800100" y="2909627"/>
            <a:ext cx="158055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55E7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Veri Seyreltme Stratejisi</a:t>
            </a:r>
            <a:endParaRPr lang="en-US" sz="987" dirty="0"/>
          </a:p>
        </p:txBody>
      </p:sp>
      <p:sp>
        <p:nvSpPr>
          <p:cNvPr id="12" name="Text 6"/>
          <p:cNvSpPr/>
          <p:nvPr/>
        </p:nvSpPr>
        <p:spPr>
          <a:xfrm>
            <a:off x="571500" y="3175732"/>
            <a:ext cx="4457700" cy="342900"/>
          </a:xfrm>
          <a:prstGeom prst="rect">
            <a:avLst/>
          </a:prstGeom>
          <a:noFill/>
          <a:ln/>
        </p:spPr>
        <p:txBody>
          <a:bodyPr wrap="square" lIns="272161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155E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arka planda tüm veriyi işlerken, UI katmanında veriler görselleştirilmeden önce seyreltilerek akıcılık sağlandı.</a:t>
            </a:r>
            <a:endParaRPr lang="en-US" sz="834" dirty="0"/>
          </a:p>
        </p:txBody>
      </p:sp>
      <p:sp>
        <p:nvSpPr>
          <p:cNvPr id="13" name="Shape 7"/>
          <p:cNvSpPr/>
          <p:nvPr/>
        </p:nvSpPr>
        <p:spPr>
          <a:xfrm>
            <a:off x="5029200" y="714375"/>
            <a:ext cx="3543300" cy="249852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8"/>
          <p:cNvSpPr/>
          <p:nvPr/>
        </p:nvSpPr>
        <p:spPr>
          <a:xfrm>
            <a:off x="5279231" y="964406"/>
            <a:ext cx="3043238" cy="366117"/>
          </a:xfrm>
          <a:prstGeom prst="rect">
            <a:avLst/>
          </a:prstGeom>
          <a:solidFill>
            <a:srgbClr val="F0F9FF"/>
          </a:solidFill>
          <a:ln w="9144">
            <a:solidFill>
              <a:srgbClr val="0E7490"/>
            </a:solidFill>
            <a:prstDash val="solid"/>
          </a:ln>
        </p:spPr>
      </p:sp>
      <p:sp>
        <p:nvSpPr>
          <p:cNvPr id="15" name="Text 9"/>
          <p:cNvSpPr/>
          <p:nvPr/>
        </p:nvSpPr>
        <p:spPr>
          <a:xfrm>
            <a:off x="5422106" y="1079599"/>
            <a:ext cx="864394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55E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Arayüz Teknolojisi</a:t>
            </a:r>
            <a:endParaRPr lang="en-US" sz="683" dirty="0"/>
          </a:p>
        </p:txBody>
      </p:sp>
      <p:sp>
        <p:nvSpPr>
          <p:cNvPr id="16" name="Text 10"/>
          <p:cNvSpPr/>
          <p:nvPr/>
        </p:nvSpPr>
        <p:spPr>
          <a:xfrm>
            <a:off x="7700963" y="1071563"/>
            <a:ext cx="478631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E749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Streamlit</a:t>
            </a:r>
            <a:endParaRPr lang="en-US" sz="784" dirty="0"/>
          </a:p>
        </p:txBody>
      </p:sp>
      <p:sp>
        <p:nvSpPr>
          <p:cNvPr id="17" name="Shape 11"/>
          <p:cNvSpPr/>
          <p:nvPr/>
        </p:nvSpPr>
        <p:spPr>
          <a:xfrm>
            <a:off x="5279231" y="1459111"/>
            <a:ext cx="3043238" cy="366117"/>
          </a:xfrm>
          <a:prstGeom prst="rect">
            <a:avLst/>
          </a:prstGeom>
          <a:solidFill>
            <a:srgbClr val="F0F9FF"/>
          </a:solidFill>
          <a:ln w="9144">
            <a:solidFill>
              <a:srgbClr val="0E7490"/>
            </a:solidFill>
            <a:prstDash val="solid"/>
          </a:ln>
        </p:spPr>
      </p:sp>
      <p:sp>
        <p:nvSpPr>
          <p:cNvPr id="18" name="Text 12"/>
          <p:cNvSpPr/>
          <p:nvPr/>
        </p:nvSpPr>
        <p:spPr>
          <a:xfrm>
            <a:off x="5422106" y="1574304"/>
            <a:ext cx="735806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55E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 İşleme Hızı</a:t>
            </a:r>
            <a:endParaRPr lang="en-US" sz="683" dirty="0"/>
          </a:p>
        </p:txBody>
      </p:sp>
      <p:sp>
        <p:nvSpPr>
          <p:cNvPr id="19" name="Text 13"/>
          <p:cNvSpPr/>
          <p:nvPr/>
        </p:nvSpPr>
        <p:spPr>
          <a:xfrm>
            <a:off x="7334845" y="1566267"/>
            <a:ext cx="844748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E749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Gerçek Zamanlı</a:t>
            </a:r>
            <a:endParaRPr lang="en-US" sz="784" dirty="0"/>
          </a:p>
        </p:txBody>
      </p:sp>
      <p:sp>
        <p:nvSpPr>
          <p:cNvPr id="20" name="Shape 14"/>
          <p:cNvSpPr/>
          <p:nvPr/>
        </p:nvSpPr>
        <p:spPr>
          <a:xfrm>
            <a:off x="5279231" y="1953816"/>
            <a:ext cx="3043238" cy="366117"/>
          </a:xfrm>
          <a:prstGeom prst="rect">
            <a:avLst/>
          </a:prstGeom>
          <a:solidFill>
            <a:srgbClr val="F0F9FF"/>
          </a:solidFill>
          <a:ln w="9144">
            <a:solidFill>
              <a:srgbClr val="0E7490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5422106" y="2069009"/>
            <a:ext cx="707231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55E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UI Performansı</a:t>
            </a:r>
            <a:endParaRPr lang="en-US" sz="683" dirty="0"/>
          </a:p>
        </p:txBody>
      </p:sp>
      <p:sp>
        <p:nvSpPr>
          <p:cNvPr id="22" name="Text 16"/>
          <p:cNvSpPr/>
          <p:nvPr/>
        </p:nvSpPr>
        <p:spPr>
          <a:xfrm>
            <a:off x="7252692" y="2060972"/>
            <a:ext cx="926902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E749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Akıcı (Optimized)</a:t>
            </a:r>
            <a:endParaRPr lang="en-US" sz="784" dirty="0"/>
          </a:p>
        </p:txBody>
      </p:sp>
      <p:sp>
        <p:nvSpPr>
          <p:cNvPr id="23" name="Shape 17"/>
          <p:cNvSpPr/>
          <p:nvPr/>
        </p:nvSpPr>
        <p:spPr>
          <a:xfrm>
            <a:off x="5279231" y="2627114"/>
            <a:ext cx="3043238" cy="292894"/>
          </a:xfrm>
          <a:prstGeom prst="roundRect">
            <a:avLst/>
          </a:prstGeom>
          <a:solidFill>
            <a:srgbClr val="0E7490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6279" y="2721769"/>
            <a:ext cx="100013" cy="100013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6117729" y="2712839"/>
            <a:ext cx="1537692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Downsampling Algoritması Aktif</a:t>
            </a:r>
            <a:endParaRPr lang="en-US" sz="683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2026-03-16T18:14:58Z</dcterms:created>
  <dcterms:modified xsi:type="dcterms:W3CDTF">2026-03-16T18:14:58Z</dcterms:modified>
</cp:coreProperties>
</file>